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1"/>
    <p:sldMasterId id="2147483696" r:id="rId2"/>
  </p:sldMasterIdLst>
  <p:notesMasterIdLst>
    <p:notesMasterId r:id="rId21"/>
  </p:notesMasterIdLst>
  <p:sldIdLst>
    <p:sldId id="265" r:id="rId3"/>
    <p:sldId id="257" r:id="rId4"/>
    <p:sldId id="267" r:id="rId5"/>
    <p:sldId id="268" r:id="rId6"/>
    <p:sldId id="259" r:id="rId7"/>
    <p:sldId id="276" r:id="rId8"/>
    <p:sldId id="269" r:id="rId9"/>
    <p:sldId id="277" r:id="rId10"/>
    <p:sldId id="261" r:id="rId11"/>
    <p:sldId id="278" r:id="rId12"/>
    <p:sldId id="282" r:id="rId13"/>
    <p:sldId id="275" r:id="rId14"/>
    <p:sldId id="260" r:id="rId15"/>
    <p:sldId id="262" r:id="rId16"/>
    <p:sldId id="279" r:id="rId17"/>
    <p:sldId id="280" r:id="rId18"/>
    <p:sldId id="281" r:id="rId19"/>
    <p:sldId id="263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05" autoAdjust="0"/>
    <p:restoredTop sz="97366" autoAdjust="0"/>
  </p:normalViewPr>
  <p:slideViewPr>
    <p:cSldViewPr snapToGrid="0">
      <p:cViewPr varScale="1">
        <p:scale>
          <a:sx n="79" d="100"/>
          <a:sy n="79" d="100"/>
        </p:scale>
        <p:origin x="1522" y="77"/>
      </p:cViewPr>
      <p:guideLst/>
    </p:cSldViewPr>
  </p:slideViewPr>
  <p:outlineViewPr>
    <p:cViewPr>
      <p:scale>
        <a:sx n="33" d="100"/>
        <a:sy n="33" d="100"/>
      </p:scale>
      <p:origin x="0" y="-454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7596D4-CB16-4BAD-83F6-7E8077D61F81}" type="datetimeFigureOut">
              <a:rPr lang="hr-HR" smtClean="0"/>
              <a:t>23.1.2026.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45738E-9CB8-443D-AC33-32367D54213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40785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906897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list no need to elaborate in this stage!</a:t>
            </a: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5702015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Navedite samo svoju viziju projektne ideje...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5108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ight Triangle 32">
            <a:extLst>
              <a:ext uri="{FF2B5EF4-FFF2-40B4-BE49-F238E27FC236}">
                <a16:creationId xmlns:a16="http://schemas.microsoft.com/office/drawing/2014/main" id="{2A737799-F072-47E1-A678-5CE12F097D06}"/>
              </a:ext>
            </a:extLst>
          </p:cNvPr>
          <p:cNvSpPr/>
          <p:nvPr/>
        </p:nvSpPr>
        <p:spPr>
          <a:xfrm flipH="1">
            <a:off x="4496837" y="4722829"/>
            <a:ext cx="4644854" cy="2135171"/>
          </a:xfrm>
          <a:prstGeom prst="rtTriangle">
            <a:avLst/>
          </a:prstGeom>
          <a:blipFill dpi="0" rotWithShape="0">
            <a:blip r:embed="rId2"/>
            <a:srcRect/>
            <a:tile tx="0" ty="-393700" sx="100000" sy="100000" flip="none" algn="tl"/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1541283"/>
          </a:xfrm>
        </p:spPr>
        <p:txBody>
          <a:bodyPr lIns="252000" tIns="46800" rIns="252000" anchor="ctr">
            <a:normAutofit/>
          </a:bodyPr>
          <a:lstStyle>
            <a:lvl1pPr algn="ctr">
              <a:defRPr lang="en-US" sz="2800" b="0" kern="12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0A13A86-3F68-4CBB-B661-B96A001B15BE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22AA1C2-ED49-4B0D-9C5A-6D47DFC70771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4FC8746-DFC2-4DDF-B034-CED2ACE15704}"/>
                </a:ext>
              </a:extLst>
            </p:cNvPr>
            <p:cNvSpPr/>
            <p:nvPr userDrawn="1"/>
          </p:nvSpPr>
          <p:spPr>
            <a:xfrm rot="16200000">
              <a:off x="514859" y="-51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94884E1-E6D8-48CB-B7A9-438FB51C78F5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32F5CBCA-0AB8-4B6A-8A03-C549C7F3AE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9000"/>
          </a:blip>
          <a:srcRect l="13474" t="23715" r="15700" b="21450"/>
          <a:stretch/>
        </p:blipFill>
        <p:spPr>
          <a:xfrm>
            <a:off x="7499927" y="308066"/>
            <a:ext cx="1416947" cy="684000"/>
          </a:xfrm>
          <a:prstGeom prst="rect">
            <a:avLst/>
          </a:prstGeom>
        </p:spPr>
      </p:pic>
      <p:pic>
        <p:nvPicPr>
          <p:cNvPr id="16" name="Picture 15" descr="A screenshot of a video game&#10;&#10;Description automatically generated">
            <a:extLst>
              <a:ext uri="{FF2B5EF4-FFF2-40B4-BE49-F238E27FC236}">
                <a16:creationId xmlns:a16="http://schemas.microsoft.com/office/drawing/2014/main" id="{304A50E9-593B-484E-BBFD-7D99ADECD2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72"/>
          <a:stretch/>
        </p:blipFill>
        <p:spPr>
          <a:xfrm>
            <a:off x="629310" y="543433"/>
            <a:ext cx="2495116" cy="246346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E779F65-BFE6-4D96-B824-8575890A4185}"/>
              </a:ext>
            </a:extLst>
          </p:cNvPr>
          <p:cNvSpPr txBox="1"/>
          <p:nvPr/>
        </p:nvSpPr>
        <p:spPr>
          <a:xfrm>
            <a:off x="6299200" y="1668720"/>
            <a:ext cx="3155393" cy="64344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54D68C4-3DFA-4D90-89DF-550D8FB0DB2C}"/>
              </a:ext>
            </a:extLst>
          </p:cNvPr>
          <p:cNvGrpSpPr/>
          <p:nvPr/>
        </p:nvGrpSpPr>
        <p:grpSpPr>
          <a:xfrm>
            <a:off x="8541834" y="2712985"/>
            <a:ext cx="602166" cy="689744"/>
            <a:chOff x="8541834" y="2712985"/>
            <a:chExt cx="602166" cy="68974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91C753-BAAB-4424-9E32-3F1432529749}"/>
                </a:ext>
              </a:extLst>
            </p:cNvPr>
            <p:cNvSpPr/>
            <p:nvPr userDrawn="1"/>
          </p:nvSpPr>
          <p:spPr>
            <a:xfrm>
              <a:off x="9000000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86BC744-DC4B-4A55-B6FA-A711EC8ACF52}"/>
                </a:ext>
              </a:extLst>
            </p:cNvPr>
            <p:cNvSpPr/>
            <p:nvPr userDrawn="1"/>
          </p:nvSpPr>
          <p:spPr>
            <a:xfrm>
              <a:off x="8772874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0AA3319-80CC-4953-81CC-A4C7D5063739}"/>
                </a:ext>
              </a:extLst>
            </p:cNvPr>
            <p:cNvSpPr/>
            <p:nvPr userDrawn="1"/>
          </p:nvSpPr>
          <p:spPr>
            <a:xfrm>
              <a:off x="8541834" y="2712985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9B169C9B-ABD9-49DB-8ECD-EBB51008CF4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0606" t="17629" r="15252" b="19248"/>
          <a:stretch/>
        </p:blipFill>
        <p:spPr>
          <a:xfrm>
            <a:off x="6472518" y="270901"/>
            <a:ext cx="836453" cy="82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217BDC-58CC-FADA-1B39-623F12755E0B}"/>
              </a:ext>
            </a:extLst>
          </p:cNvPr>
          <p:cNvSpPr txBox="1"/>
          <p:nvPr userDrawn="1"/>
        </p:nvSpPr>
        <p:spPr>
          <a:xfrm>
            <a:off x="2757249" y="3212658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A7A9A7D-F6F6-0F08-90E6-4F20750E9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292" y="5227023"/>
            <a:ext cx="777240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7721124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blipFill dpi="0" rotWithShape="1">
          <a:blip r:embed="rId2">
            <a:alphaModFix amt="10000"/>
            <a:lum/>
          </a:blip>
          <a:srcRect/>
          <a:stretch>
            <a:fillRect l="85000" t="93000" r="1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9D65BC3-0390-487E-9343-57013C37910B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  <a:solidFill>
            <a:srgbClr val="FFB400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F4361EC-AED8-4B86-B0D1-15361ACD5BB7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D7164C5-7F89-48EA-9906-0AF23BCC4882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1" name="Picture 10" descr="A screenshot of a video game&#10;&#10;Description automatically generated">
            <a:extLst>
              <a:ext uri="{FF2B5EF4-FFF2-40B4-BE49-F238E27FC236}">
                <a16:creationId xmlns:a16="http://schemas.microsoft.com/office/drawing/2014/main" id="{400D0D9E-702E-4495-B908-117D903BB1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72"/>
          <a:stretch/>
        </p:blipFill>
        <p:spPr>
          <a:xfrm>
            <a:off x="7680632" y="120349"/>
            <a:ext cx="1276193" cy="1260000"/>
          </a:xfrm>
          <a:prstGeom prst="rect">
            <a:avLst/>
          </a:prstGeom>
        </p:spPr>
      </p:pic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BE68E431-7FC2-47FC-A826-4B794B289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B4F37E-A6B4-4A59-A76A-E67F5B42B7AF}"/>
              </a:ext>
            </a:extLst>
          </p:cNvPr>
          <p:cNvCxnSpPr>
            <a:cxnSpLocks/>
          </p:cNvCxnSpPr>
          <p:nvPr/>
        </p:nvCxnSpPr>
        <p:spPr>
          <a:xfrm flipH="1">
            <a:off x="1071418" y="4581245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758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95554"/>
            <a:ext cx="7886700" cy="4931327"/>
          </a:xfrm>
        </p:spPr>
        <p:txBody>
          <a:bodyPr/>
          <a:lstStyle>
            <a:lvl2pPr marL="685800" indent="-228600">
              <a:buFont typeface="Wingdings" panose="05000000000000000000" pitchFamily="2" charset="2"/>
              <a:buChar char="§"/>
              <a:defRPr sz="2200"/>
            </a:lvl2pPr>
            <a:lvl3pPr marL="1143000" indent="-228600">
              <a:buFont typeface="Courier New" panose="02070309020205020404" pitchFamily="49" charset="0"/>
              <a:buChar char="o"/>
              <a:defRPr sz="1800"/>
            </a:lvl3pPr>
            <a:lvl4pPr marL="1600200" indent="-228600">
              <a:buFont typeface="Franklin Gothic Book" panose="020B0503020102020204" pitchFamily="34" charset="0"/>
              <a:buChar char="―"/>
              <a:defRPr sz="1600"/>
            </a:lvl4pPr>
            <a:lvl5pPr marL="2057400" indent="-22860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0347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1050AD4-29D0-47EA-9708-82FD8FAF1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0C09F13D-5F40-4714-BA42-EFC264DE9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255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2377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84370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0" y="1"/>
            <a:ext cx="9144000" cy="1124744"/>
          </a:xfrm>
          <a:solidFill>
            <a:schemeClr val="bg1"/>
          </a:solidFill>
        </p:spPr>
        <p:txBody>
          <a:bodyPr/>
          <a:lstStyle>
            <a:lvl1pPr>
              <a:defRPr sz="4000"/>
            </a:lvl1pPr>
          </a:lstStyle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24611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0" y="2997200"/>
            <a:ext cx="9144000" cy="122237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 b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r>
              <a:rPr lang="en-US" noProof="0"/>
              <a:t>Click to edit Master subtitle style</a:t>
            </a:r>
            <a:endParaRPr lang="hr-HR" noProof="0" dirty="0"/>
          </a:p>
        </p:txBody>
      </p:sp>
      <p:sp>
        <p:nvSpPr>
          <p:cNvPr id="170" name="Rectangle 325"/>
          <p:cNvSpPr>
            <a:spLocks noChangeArrowheads="1"/>
          </p:cNvSpPr>
          <p:nvPr/>
        </p:nvSpPr>
        <p:spPr bwMode="auto">
          <a:xfrm>
            <a:off x="0" y="3573463"/>
            <a:ext cx="91440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hr-HR" sz="2800" noProof="0" dirty="0">
              <a:solidFill>
                <a:srgbClr val="FF99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4358" y="5597395"/>
            <a:ext cx="61912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892974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19138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3282859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lank">
            <a:extLst>
              <a:ext uri="{FF2B5EF4-FFF2-40B4-BE49-F238E27FC236}">
                <a16:creationId xmlns:a16="http://schemas.microsoft.com/office/drawing/2014/main" id="{DF900481-7CD7-44CE-90E6-3583037D52D9}"/>
              </a:ext>
            </a:extLst>
          </p:cNvPr>
          <p:cNvSpPr/>
          <p:nvPr/>
        </p:nvSpPr>
        <p:spPr bwMode="auto">
          <a:xfrm>
            <a:off x="13527" y="-4384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47" y="3752009"/>
            <a:ext cx="8245162" cy="1475013"/>
          </a:xfrm>
          <a:effectLst/>
        </p:spPr>
        <p:txBody>
          <a:bodyPr anchor="b" anchorCtr="1"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2949" y="5227023"/>
            <a:ext cx="824516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1" name="UNI_Logo">
            <a:extLst>
              <a:ext uri="{FF2B5EF4-FFF2-40B4-BE49-F238E27FC236}">
                <a16:creationId xmlns:a16="http://schemas.microsoft.com/office/drawing/2014/main" id="{B60ABF21-F805-4F5C-9378-DA9D7D2CB64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606" t="17629" r="15252" b="19248"/>
          <a:stretch/>
        </p:blipFill>
        <p:spPr>
          <a:xfrm>
            <a:off x="6770836" y="262594"/>
            <a:ext cx="727345" cy="720000"/>
          </a:xfrm>
          <a:prstGeom prst="rect">
            <a:avLst/>
          </a:prstGeom>
        </p:spPr>
      </p:pic>
      <p:pic>
        <p:nvPicPr>
          <p:cNvPr id="12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EC1CAE0A-3E29-4F8A-A85F-FFEEA390805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9000"/>
          </a:blip>
          <a:srcRect l="13474" t="23715" r="15700" b="21450"/>
          <a:stretch/>
        </p:blipFill>
        <p:spPr>
          <a:xfrm>
            <a:off x="7629063" y="345375"/>
            <a:ext cx="1188000" cy="582400"/>
          </a:xfrm>
          <a:prstGeom prst="rect">
            <a:avLst/>
          </a:prstGeom>
        </p:spPr>
      </p:pic>
      <p:sp>
        <p:nvSpPr>
          <p:cNvPr id="13" name="Course">
            <a:extLst>
              <a:ext uri="{FF2B5EF4-FFF2-40B4-BE49-F238E27FC236}">
                <a16:creationId xmlns:a16="http://schemas.microsoft.com/office/drawing/2014/main" id="{606EE227-E1A4-48CD-8072-A5BFFE497034}"/>
              </a:ext>
            </a:extLst>
          </p:cNvPr>
          <p:cNvSpPr txBox="1"/>
          <p:nvPr/>
        </p:nvSpPr>
        <p:spPr>
          <a:xfrm>
            <a:off x="6309966" y="2336793"/>
            <a:ext cx="2398143" cy="561474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  <a:endParaRPr lang="en-US" sz="1200" noProof="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4A5D7BB-0877-4A5C-8FF5-FD8D403DFC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970" y="0"/>
            <a:ext cx="3204212" cy="27740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0074D2-401D-5430-6887-B383F93FE29E}"/>
              </a:ext>
            </a:extLst>
          </p:cNvPr>
          <p:cNvSpPr txBox="1"/>
          <p:nvPr userDrawn="1"/>
        </p:nvSpPr>
        <p:spPr>
          <a:xfrm>
            <a:off x="2757249" y="3266875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</p:spTree>
    <p:extLst>
      <p:ext uri="{BB962C8B-B14F-4D97-AF65-F5344CB8AC3E}">
        <p14:creationId xmlns:p14="http://schemas.microsoft.com/office/powerpoint/2010/main" val="20511837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400000"/>
          </a:xfrm>
        </p:spPr>
        <p:txBody>
          <a:bodyPr/>
          <a:lstStyle>
            <a:lvl1pPr marL="266700" indent="-266700">
              <a:defRPr>
                <a:solidFill>
                  <a:schemeClr val="tx1"/>
                </a:solidFill>
              </a:defRPr>
            </a:lvl1pPr>
            <a:lvl2pPr marL="486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5975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6" y="2393953"/>
            <a:ext cx="8272211" cy="2147467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6" y="4541417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cap="all">
                <a:solidFill>
                  <a:schemeClr val="accent1"/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A2C86E-F1C7-46E0-95C6-696D16C6C694}" type="slidenum">
              <a:rPr lang="hr-HR" noProof="0" smtClean="0"/>
              <a:pPr>
                <a:defRPr/>
              </a:pPr>
              <a:t>‹#›</a:t>
            </a:fld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3430365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999" y="972000"/>
            <a:ext cx="4680000" cy="5400000"/>
          </a:xfrm>
        </p:spPr>
        <p:txBody>
          <a:bodyPr>
            <a:normAutofit/>
          </a:bodyPr>
          <a:lstStyle>
            <a:lvl2pPr>
              <a:lnSpc>
                <a:spcPct val="100000"/>
              </a:lnSpc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2030" y="972000"/>
            <a:ext cx="4259971" cy="5400000"/>
          </a:xfrm>
        </p:spPr>
        <p:txBody>
          <a:bodyPr>
            <a:normAutofit/>
          </a:bodyPr>
          <a:lstStyle>
            <a:lvl2pPr marL="396000" indent="-252000">
              <a:lnSpc>
                <a:spcPct val="100000"/>
              </a:lnSpc>
              <a:defRPr lang="en-US" sz="20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13632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792000" y="-8857"/>
            <a:ext cx="79200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8" y="991413"/>
            <a:ext cx="4680000" cy="557784"/>
          </a:xfr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98" y="1668252"/>
            <a:ext cx="4680000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12031" y="991417"/>
            <a:ext cx="4212288" cy="553373"/>
          </a:xfrm>
        </p:spPr>
        <p:txBody>
          <a:bodyPr anchor="ctr">
            <a:noAutofit/>
          </a:bodyPr>
          <a:lstStyle>
            <a:lvl1pPr marL="0" marR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marL="0" marR="0" lvl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12028" y="1663842"/>
            <a:ext cx="4212288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532834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96148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  <p:sp>
        <p:nvSpPr>
          <p:cNvPr id="5" name="Blank">
            <a:extLst>
              <a:ext uri="{FF2B5EF4-FFF2-40B4-BE49-F238E27FC236}">
                <a16:creationId xmlns:a16="http://schemas.microsoft.com/office/drawing/2014/main" id="{B6B16F86-9808-4367-B20B-899AF3F2BA32}"/>
              </a:ext>
            </a:extLst>
          </p:cNvPr>
          <p:cNvSpPr/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3650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894" y="1008824"/>
            <a:ext cx="2273889" cy="1722419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5698" y="1008824"/>
            <a:ext cx="4988243" cy="5294004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788">
                <a:solidFill>
                  <a:schemeClr val="tx2"/>
                </a:solidFill>
              </a:defRPr>
            </a:lvl6pPr>
            <a:lvl7pPr>
              <a:defRPr sz="788">
                <a:solidFill>
                  <a:schemeClr val="tx2"/>
                </a:solidFill>
              </a:defRPr>
            </a:lvl7pPr>
            <a:lvl8pPr>
              <a:defRPr sz="788">
                <a:solidFill>
                  <a:schemeClr val="tx2"/>
                </a:solidFill>
              </a:defRPr>
            </a:lvl8pPr>
            <a:lvl9pPr>
              <a:defRPr sz="788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5894" y="2836656"/>
            <a:ext cx="2273889" cy="3466175"/>
          </a:xfrm>
        </p:spPr>
        <p:txBody>
          <a:bodyPr anchor="t">
            <a:normAutofit/>
          </a:bodyPr>
          <a:lstStyle>
            <a:lvl1pPr marL="0" indent="0" algn="l">
              <a:buNone/>
              <a:defRPr sz="900">
                <a:solidFill>
                  <a:srgbClr val="FFFFFF"/>
                </a:solidFill>
              </a:defRPr>
            </a:lvl1pPr>
            <a:lvl2pPr marL="257175" indent="0">
              <a:buNone/>
              <a:defRPr sz="619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5" y="6456919"/>
            <a:ext cx="2133599" cy="365125"/>
          </a:xfrm>
        </p:spPr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231" y="6452593"/>
            <a:ext cx="4836571" cy="365125"/>
          </a:xfrm>
        </p:spPr>
        <p:txBody>
          <a:bodyPr/>
          <a:lstStyle/>
          <a:p>
            <a:endParaRPr lang="hr-HR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6" y="6456919"/>
            <a:ext cx="789383" cy="365125"/>
          </a:xfrm>
        </p:spPr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4685486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8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7929" y="1042141"/>
            <a:ext cx="8468144" cy="3485610"/>
          </a:xfrm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5260127"/>
            <a:ext cx="8272213" cy="998148"/>
          </a:xfrm>
        </p:spPr>
        <p:txBody>
          <a:bodyPr anchor="t">
            <a:normAutofit/>
          </a:bodyPr>
          <a:lstStyle>
            <a:lvl1pPr marL="0" indent="0"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199510302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51248466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043613" y="599725"/>
            <a:ext cx="2765487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53150" y="863600"/>
            <a:ext cx="234315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4" y="863600"/>
            <a:ext cx="5371219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77989066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9EB10-FBF8-4CBA-B026-F8DE91FFE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13" y="123825"/>
            <a:ext cx="8999537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16ABA-433E-479F-BD29-1C844B0A1F5F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61950" y="1052513"/>
            <a:ext cx="4168775" cy="5043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B4264813-3E43-478F-B65D-0BC0200A93E3}"/>
              </a:ext>
            </a:extLst>
          </p:cNvPr>
          <p:cNvSpPr>
            <a:spLocks noGrp="1"/>
          </p:cNvSpPr>
          <p:nvPr>
            <p:ph type="clipArt" sz="half" idx="2"/>
          </p:nvPr>
        </p:nvSpPr>
        <p:spPr>
          <a:xfrm>
            <a:off x="4683125" y="1052513"/>
            <a:ext cx="4168775" cy="5043487"/>
          </a:xfrm>
        </p:spPr>
        <p:txBody>
          <a:bodyPr/>
          <a:lstStyle/>
          <a:p>
            <a:r>
              <a:rPr lang="en-US"/>
              <a:t>Click icon to add online image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81678076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5A3D-D87F-4AF2-BA78-EC513449E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388" y="1643063"/>
            <a:ext cx="8964612" cy="5619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9B210-E8A1-4163-B353-9596A4987A67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79388" y="2349500"/>
            <a:ext cx="4316412" cy="395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15EE46-BB07-40D1-BA76-9A68CCF90965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2349500"/>
            <a:ext cx="4316413" cy="1903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13EFCE-9805-4C10-9F35-FE6B61EEEB78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4405313"/>
            <a:ext cx="4316413" cy="1903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B9D8B36-6841-48AB-ACDD-303377A53B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4438" y="6453188"/>
            <a:ext cx="1773237" cy="319087"/>
          </a:xfrm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7546225-D832-45D6-9D1F-C2C298013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453188"/>
            <a:ext cx="2895600" cy="319087"/>
          </a:xfrm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93AD3A-68A5-4246-9D01-4FF480FAD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02450" y="6440488"/>
            <a:ext cx="2133600" cy="319087"/>
          </a:xfrm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710353091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2E4BB-D381-461E-98CE-EC214FB2C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22250"/>
            <a:ext cx="8153400" cy="7048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55E26-D24E-448B-A60D-AC4ADA3256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5600" y="1295400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580C4-0743-475D-99BC-A08C21692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5600" y="3832225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07078345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33B67453-1C01-4A88-9B88-0395558C4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9563"/>
            <a:ext cx="9144000" cy="198437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EB15CA-4405-4999-8824-E5B89AB2F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" y="5734050"/>
            <a:ext cx="85090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 b="0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1604BB0-89C9-40DD-B4C1-65ECA21B8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38175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7" name="Line 12">
            <a:extLst>
              <a:ext uri="{FF2B5EF4-FFF2-40B4-BE49-F238E27FC236}">
                <a16:creationId xmlns:a16="http://schemas.microsoft.com/office/drawing/2014/main" id="{EEC9831C-2EE5-4AB4-811F-0FD7517A5A6B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3500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8" name="Line 13">
            <a:extLst>
              <a:ext uri="{FF2B5EF4-FFF2-40B4-BE49-F238E27FC236}">
                <a16:creationId xmlns:a16="http://schemas.microsoft.com/office/drawing/2014/main" id="{FB57BD19-2365-4510-B140-A8BF46017B45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66115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E9247816-F8A1-437D-8876-CE3B543F5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9175" y="6689725"/>
            <a:ext cx="5048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E3A00050-2AD2-4E24-A959-018DA26B4A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125" y="6376988"/>
            <a:ext cx="844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5240486D-8BBC-4E5F-AE3E-87568EC3A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2038" y="6626225"/>
            <a:ext cx="606425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fld id="{5487ECC7-754E-4F59-8E24-696A1ED399B9}" type="slidenum">
              <a:rPr lang="de-DE" altLang="sr-Latn-RS" sz="1000" b="0" smtClean="0">
                <a:solidFill>
                  <a:schemeClr val="bg1"/>
                </a:solidFill>
              </a:rPr>
              <a:pPr eaLnBrk="1" hangingPunct="1">
                <a:defRPr/>
              </a:pPr>
              <a:t>‹#›</a:t>
            </a:fld>
            <a:endParaRPr lang="de-DE" altLang="sr-Latn-RS" sz="1000" b="0" dirty="0">
              <a:solidFill>
                <a:schemeClr val="bg1"/>
              </a:solidFill>
            </a:endParaRPr>
          </a:p>
        </p:txBody>
      </p:sp>
      <p:pic>
        <p:nvPicPr>
          <p:cNvPr id="12" name="Picture 9" descr="MCAST">
            <a:extLst>
              <a:ext uri="{FF2B5EF4-FFF2-40B4-BE49-F238E27FC236}">
                <a16:creationId xmlns:a16="http://schemas.microsoft.com/office/drawing/2014/main" id="{5EBDEE4A-5D09-433E-904F-F1650F13C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3313" y="185738"/>
            <a:ext cx="1484312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9EE17B41-E6B1-4669-AD1B-D326DFF0B618}"/>
              </a:ext>
            </a:extLst>
          </p:cNvPr>
          <p:cNvSpPr txBox="1"/>
          <p:nvPr/>
        </p:nvSpPr>
        <p:spPr>
          <a:xfrm>
            <a:off x="0" y="6657975"/>
            <a:ext cx="9144000" cy="214313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sz="700" b="0" dirty="0">
                <a:ea typeface="Times New Roman"/>
                <a:cs typeface="Times New Roman"/>
              </a:rPr>
              <a:t>A Vocational Degree programme developed by MCAST and Fraunhofer IAO.</a:t>
            </a:r>
            <a:endParaRPr lang="de-DE" sz="700" b="0" dirty="0">
              <a:ea typeface="Times New Roman"/>
              <a:cs typeface="Times New Roman"/>
            </a:endParaRPr>
          </a:p>
        </p:txBody>
      </p:sp>
      <p:pic>
        <p:nvPicPr>
          <p:cNvPr id="14" name="Grafik 13" descr="C:\Dokumente und Einstellungen\sahin\Desktop\iao_85mm_p334.png">
            <a:extLst>
              <a:ext uri="{FF2B5EF4-FFF2-40B4-BE49-F238E27FC236}">
                <a16:creationId xmlns:a16="http://schemas.microsoft.com/office/drawing/2014/main" id="{118DF992-D6B3-42BA-B7AF-94ADD5D83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155575"/>
            <a:ext cx="1384300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Inhaltsplatzhalter 14"/>
          <p:cNvSpPr>
            <a:spLocks noGrp="1"/>
          </p:cNvSpPr>
          <p:nvPr>
            <p:ph sz="quarter" idx="10"/>
          </p:nvPr>
        </p:nvSpPr>
        <p:spPr>
          <a:xfrm>
            <a:off x="372122" y="1917577"/>
            <a:ext cx="8443404" cy="4473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5081" y="859963"/>
            <a:ext cx="8422689" cy="755773"/>
          </a:xfrm>
        </p:spPr>
        <p:txBody>
          <a:bodyPr anchor="b"/>
          <a:lstStyle>
            <a:lvl1pPr algn="ctr">
              <a:defRPr sz="2200" smtClean="0">
                <a:latin typeface="Arial" charset="0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2403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50938" y="533400"/>
            <a:ext cx="7793037" cy="769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2 Marcador de tabla"/>
          <p:cNvSpPr>
            <a:spLocks noGrp="1"/>
          </p:cNvSpPr>
          <p:nvPr>
            <p:ph type="tbl" idx="1"/>
          </p:nvPr>
        </p:nvSpPr>
        <p:spPr>
          <a:xfrm>
            <a:off x="0" y="1676400"/>
            <a:ext cx="9144000" cy="4456113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es-ES" noProof="0" dirty="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878ED30-4CA5-4F36-903B-BB1F88A7DC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616777E-FC54-4224-94BE-6841457432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2A5E6CE-E56A-416E-B8B3-DBFD0971A9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6456871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2387600"/>
          </a:xfrm>
        </p:spPr>
        <p:txBody>
          <a:bodyPr lIns="252000" tIns="46800" rIns="252000"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82845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21" Type="http://schemas.microsoft.com/office/2007/relationships/hdphoto" Target="../media/hdphoto1.wdp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8.xml"/><Relationship Id="rId19" Type="http://schemas.openxmlformats.org/officeDocument/2006/relationships/image" Target="../media/image8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580548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" y="972000"/>
            <a:ext cx="9000000" cy="5400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63534" y="6501038"/>
            <a:ext cx="940649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8803" y="6501039"/>
            <a:ext cx="6759654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none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9260" y="6501038"/>
            <a:ext cx="475056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89CEFA33-B437-4AA3-8275-93D2FF8194B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999" y="887249"/>
            <a:ext cx="9000000" cy="45719"/>
          </a:xfrm>
          <a:prstGeom prst="rect">
            <a:avLst/>
          </a:prstGeom>
          <a:gradFill rotWithShape="0">
            <a:gsLst>
              <a:gs pos="300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73C7DFB0-5E2B-4809-9C0B-ED751F99515E}"/>
              </a:ext>
            </a:extLst>
          </p:cNvPr>
          <p:cNvSpPr>
            <a:spLocks noChangeArrowheads="1"/>
          </p:cNvSpPr>
          <p:nvPr/>
        </p:nvSpPr>
        <p:spPr bwMode="gray">
          <a:xfrm>
            <a:off x="2" y="6816222"/>
            <a:ext cx="9143999" cy="36000"/>
          </a:xfrm>
          <a:prstGeom prst="rect">
            <a:avLst/>
          </a:prstGeom>
          <a:gradFill rotWithShape="0">
            <a:gsLst>
              <a:gs pos="3000">
                <a:schemeClr val="bg1">
                  <a:alpha val="56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FB4C7E3-BB36-4260-BA39-D064CCA029A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394" y="171448"/>
            <a:ext cx="697230" cy="548640"/>
          </a:xfrm>
          <a:prstGeom prst="rect">
            <a:avLst/>
          </a:prstGeom>
        </p:spPr>
      </p:pic>
      <p:pic>
        <p:nvPicPr>
          <p:cNvPr id="24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75090067-1575-4BA5-A613-FCA8F5BA8302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alphaModFix amt="79000"/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13474" t="23715" r="15700" b="21450"/>
          <a:stretch/>
        </p:blipFill>
        <p:spPr>
          <a:xfrm>
            <a:off x="8469403" y="296918"/>
            <a:ext cx="634769" cy="30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418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ctr" defTabSz="257175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2000" indent="-252000" algn="l" defTabSz="257175" rtl="0" eaLnBrk="1" latinLnBrk="0" hangingPunct="1">
        <a:lnSpc>
          <a:spcPct val="110000"/>
        </a:lnSpc>
        <a:spcBef>
          <a:spcPts val="5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400" kern="1200">
          <a:ln>
            <a:noFill/>
          </a:ln>
          <a:solidFill>
            <a:schemeClr val="tx1"/>
          </a:solidFill>
          <a:latin typeface="+mn-lt"/>
          <a:ea typeface="+mn-ea"/>
          <a:cs typeface="+mn-cs"/>
        </a:defRPr>
      </a:lvl1pPr>
      <a:lvl2pPr marL="396000" indent="-252000" algn="l" defTabSz="257175" rtl="0" eaLnBrk="1" latinLnBrk="0" hangingPunct="1">
        <a:spcBef>
          <a:spcPts val="4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06250" indent="-15187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986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011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687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6pPr>
      <a:lvl7pPr marL="12375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7pPr>
      <a:lvl8pPr marL="14062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8pPr>
      <a:lvl9pPr marL="15750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47" y="3752009"/>
            <a:ext cx="8245162" cy="14750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hr-HR" sz="4000" noProof="0" dirty="0"/>
              <a:t>Planinarko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09DD34-BFD2-8305-42BF-AA42E093F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328" y="5227023"/>
            <a:ext cx="7772400" cy="590321"/>
          </a:xfrm>
        </p:spPr>
        <p:txBody>
          <a:bodyPr>
            <a:normAutofit lnSpcReduction="10000"/>
          </a:bodyPr>
          <a:lstStyle/>
          <a:p>
            <a:r>
              <a:rPr lang="hr-HR" sz="1400" noProof="0" dirty="0"/>
              <a:t>Tim:  TG </a:t>
            </a:r>
            <a:r>
              <a:rPr lang="hr-HR" sz="1400" dirty="0"/>
              <a:t>12</a:t>
            </a:r>
            <a:r>
              <a:rPr lang="hr-HR" sz="1400" noProof="0" dirty="0"/>
              <a:t>.1 </a:t>
            </a:r>
            <a:r>
              <a:rPr lang="hr-HR" dirty="0"/>
              <a:t>8YKtD</a:t>
            </a:r>
            <a:endParaRPr lang="hr-HR" sz="1400" noProof="0" dirty="0"/>
          </a:p>
          <a:p>
            <a:r>
              <a:rPr lang="hr-HR" noProof="0" dirty="0"/>
              <a:t>Ak. god. 2025./2025.</a:t>
            </a:r>
          </a:p>
        </p:txBody>
      </p:sp>
    </p:spTree>
    <p:extLst>
      <p:ext uri="{BB962C8B-B14F-4D97-AF65-F5344CB8AC3E}">
        <p14:creationId xmlns:p14="http://schemas.microsoft.com/office/powerpoint/2010/main" val="3657843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Sadržaj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r-HR" noProof="0" dirty="0"/>
              <a:t>Članovi grupe</a:t>
            </a:r>
          </a:p>
          <a:p>
            <a:r>
              <a:rPr lang="hr-HR" noProof="0" dirty="0"/>
              <a:t>O projektu</a:t>
            </a:r>
          </a:p>
          <a:p>
            <a:r>
              <a:rPr lang="hr-HR" noProof="0" dirty="0"/>
              <a:t>Pregled zahtjeva</a:t>
            </a:r>
          </a:p>
          <a:p>
            <a:r>
              <a:rPr lang="hr-HR" noProof="0" dirty="0"/>
              <a:t>UML dijagram obrazaca uporabe</a:t>
            </a:r>
          </a:p>
          <a:p>
            <a:r>
              <a:rPr lang="hr-HR" dirty="0"/>
              <a:t>UML sekvencijski dijagram</a:t>
            </a:r>
          </a:p>
          <a:p>
            <a:r>
              <a:rPr lang="hr-HR" noProof="0" dirty="0"/>
              <a:t>Arhitektura sustava</a:t>
            </a:r>
          </a:p>
          <a:p>
            <a:r>
              <a:rPr lang="hr-HR" dirty="0"/>
              <a:t>UML dijagram razreda</a:t>
            </a:r>
          </a:p>
          <a:p>
            <a:r>
              <a:rPr lang="hr-HR" noProof="0" dirty="0"/>
              <a:t>Testiranje</a:t>
            </a:r>
          </a:p>
          <a:p>
            <a:r>
              <a:rPr lang="hr-HR" noProof="0" dirty="0"/>
              <a:t>Organizacija rada</a:t>
            </a:r>
          </a:p>
          <a:p>
            <a:r>
              <a:rPr lang="hr-HR" dirty="0"/>
              <a:t>Raščlamba zadataka</a:t>
            </a:r>
            <a:endParaRPr lang="hr-HR" noProof="0" dirty="0"/>
          </a:p>
          <a:p>
            <a:r>
              <a:rPr lang="hr-HR" noProof="0" dirty="0"/>
              <a:t>Zaključak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2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307531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CCC5E-8F0C-4678-41F6-563B723DD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Članovi grupe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85B14-6D23-2394-890E-2F2CE0684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Vito </a:t>
            </a:r>
            <a:r>
              <a:rPr lang="hr-HR" dirty="0" err="1"/>
              <a:t>Čuić</a:t>
            </a:r>
            <a:r>
              <a:rPr lang="hr-HR" dirty="0"/>
              <a:t>: Voditelj tima, </a:t>
            </a:r>
            <a:r>
              <a:rPr lang="hr-HR" dirty="0" err="1"/>
              <a:t>fullstack</a:t>
            </a:r>
            <a:r>
              <a:rPr lang="hr-HR" dirty="0"/>
              <a:t>, testiranje</a:t>
            </a:r>
          </a:p>
          <a:p>
            <a:r>
              <a:rPr lang="hr-HR" dirty="0"/>
              <a:t>Martin Golub: Frontend razvoj</a:t>
            </a:r>
          </a:p>
          <a:p>
            <a:r>
              <a:rPr lang="hr-HR" dirty="0"/>
              <a:t>Antonio Zulim: Backend razvoj</a:t>
            </a:r>
          </a:p>
          <a:p>
            <a:r>
              <a:rPr lang="hr-HR" dirty="0"/>
              <a:t>Marko Dorčić: Baza podataka, backend razvoj</a:t>
            </a:r>
          </a:p>
          <a:p>
            <a:r>
              <a:rPr lang="hr-HR" dirty="0"/>
              <a:t>Vinko </a:t>
            </a:r>
            <a:r>
              <a:rPr lang="hr-HR" dirty="0" err="1"/>
              <a:t>Grančić</a:t>
            </a:r>
            <a:r>
              <a:rPr lang="hr-HR" dirty="0"/>
              <a:t>: </a:t>
            </a:r>
            <a:r>
              <a:rPr lang="hr-HR" dirty="0" err="1"/>
              <a:t>Fullstack</a:t>
            </a:r>
            <a:r>
              <a:rPr lang="hr-HR" dirty="0"/>
              <a:t> razvoj</a:t>
            </a:r>
          </a:p>
          <a:p>
            <a:r>
              <a:rPr lang="hr-HR" dirty="0"/>
              <a:t>Matheo Kesar: Frontend razvoj</a:t>
            </a:r>
          </a:p>
          <a:p>
            <a:r>
              <a:rPr lang="hr-HR" dirty="0"/>
              <a:t>(Tin Karalić: Backend razvoj)</a:t>
            </a:r>
          </a:p>
          <a:p>
            <a:endParaRPr lang="hr-HR" dirty="0"/>
          </a:p>
          <a:p>
            <a:pPr marL="0" indent="0">
              <a:buNone/>
            </a:pPr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E38AF-35BC-BD40-AC94-1AB4341B3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035151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A0B7E-6D2D-545E-3942-807E5763C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/>
          <a:lstStyle/>
          <a:p>
            <a:r>
              <a:rPr lang="hr-HR" noProof="0" dirty="0"/>
              <a:t>O projektu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DC0A7-2EBE-B97D-F71C-97BD62047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400000"/>
          </a:xfrm>
        </p:spPr>
        <p:txBody>
          <a:bodyPr>
            <a:normAutofit/>
          </a:bodyPr>
          <a:lstStyle/>
          <a:p>
            <a:pPr lvl="0"/>
            <a:r>
              <a:rPr lang="hr-HR" dirty="0"/>
              <a:t>Planiranje, vizualizacija i dijeljenje planinarskih staza</a:t>
            </a:r>
          </a:p>
          <a:p>
            <a:pPr lvl="0"/>
            <a:r>
              <a:rPr lang="hr-HR" dirty="0"/>
              <a:t>Cilj: Olakšanje planiranja planinarskih izleta</a:t>
            </a:r>
          </a:p>
          <a:p>
            <a:pPr lvl="0"/>
            <a:r>
              <a:rPr lang="hr-HR" dirty="0"/>
              <a:t>Interaktivna 2D karta i 3D vizualizacija terena</a:t>
            </a:r>
          </a:p>
          <a:p>
            <a:pPr lvl="0"/>
            <a:r>
              <a:rPr lang="hr-HR" altLang="sr-Latn-RS" dirty="0"/>
              <a:t>Slična rješenja: Strava, </a:t>
            </a:r>
            <a:r>
              <a:rPr lang="hr-HR" altLang="sr-Latn-RS" dirty="0" err="1"/>
              <a:t>Komoot</a:t>
            </a:r>
            <a:endParaRPr lang="hr-HR" altLang="sr-Latn-RS" dirty="0"/>
          </a:p>
          <a:p>
            <a:pPr lvl="0"/>
            <a:r>
              <a:rPr lang="hr-HR" altLang="sr-Latn-RS" dirty="0"/>
              <a:t>Prednost u odnosu na slične proizvode: 3D prikaz terena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24A85-3B76-EBCB-772E-CD8CF3165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9260" y="6501038"/>
            <a:ext cx="475056" cy="288000"/>
          </a:xfrm>
        </p:spPr>
        <p:txBody>
          <a:bodyPr/>
          <a:lstStyle/>
          <a:p>
            <a:fld id="{FAA41844-C0CA-4144-9D6C-D993F0C0FAB4}" type="slidenum">
              <a:rPr lang="hr-HR" smtClean="0"/>
              <a:pPr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839409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Pregled zahtjeva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hr-HR" b="1" dirty="0"/>
              <a:t>Funkcionalni zahtjevi</a:t>
            </a:r>
          </a:p>
          <a:p>
            <a:r>
              <a:rPr lang="hr-HR" dirty="0"/>
              <a:t>Sustav omogućuje kreiranje i prijavu profila</a:t>
            </a:r>
          </a:p>
          <a:p>
            <a:r>
              <a:rPr lang="hr-HR" dirty="0"/>
              <a:t>Sustav omogućuje odabir površine na 2D karti.</a:t>
            </a:r>
          </a:p>
          <a:p>
            <a:r>
              <a:rPr lang="hr-HR" dirty="0"/>
              <a:t>Sustav može prikazati površinu reljefa u trodimenzionalnom obliku</a:t>
            </a:r>
          </a:p>
          <a:p>
            <a:r>
              <a:rPr lang="hr-HR" dirty="0"/>
              <a:t>Sustav omogućuje definiranje staze postavljanjem točaka na 3D karti</a:t>
            </a:r>
          </a:p>
          <a:p>
            <a:r>
              <a:rPr lang="hr-HR" dirty="0"/>
              <a:t>Prijavljeni korisnik mora moći spremiti svoju kreiranu rutu</a:t>
            </a:r>
          </a:p>
          <a:p>
            <a:r>
              <a:rPr lang="hr-HR" dirty="0"/>
              <a:t>Prijavljeni korisnik mora moći ocijeniti javne staze drugih korisnika sustavom zvjezdica</a:t>
            </a:r>
          </a:p>
          <a:p>
            <a:r>
              <a:rPr lang="hr-HR" dirty="0"/>
              <a:t>Korisnik mora moći posjetiti bilo čiji korisnički profil i vidjeti listu njegovih javnih staza</a:t>
            </a:r>
          </a:p>
          <a:p>
            <a:r>
              <a:rPr lang="hr-HR" dirty="0"/>
              <a:t>Korisnik mora moći vizualizirati odabranu rutu s tuđeg profila u 3D prikazu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5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161375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1A843-10EC-A4C5-9D07-D9808BEC0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5220A-3404-6787-E609-A75F7DB78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Pregled zahtjeva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30843-DBE9-0303-0CA6-673937F50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r-HR" b="1" dirty="0"/>
              <a:t>Nefunkcionalni zahtjevi i zahtjevi domene</a:t>
            </a:r>
          </a:p>
          <a:p>
            <a:r>
              <a:rPr lang="hr-HR" dirty="0"/>
              <a:t>Aplikacija mora imati kvalitetno sučelje</a:t>
            </a:r>
          </a:p>
          <a:p>
            <a:r>
              <a:rPr lang="hr-HR" dirty="0"/>
              <a:t>Aplikacija mora biti dostupna putem modernih web preglednika (Chrome, Firefox, Safari, </a:t>
            </a:r>
            <a:r>
              <a:rPr lang="hr-HR" dirty="0" err="1"/>
              <a:t>Edge</a:t>
            </a:r>
            <a:r>
              <a:rPr lang="hr-HR" dirty="0"/>
              <a:t>)</a:t>
            </a:r>
          </a:p>
          <a:p>
            <a:r>
              <a:rPr lang="hr-HR" dirty="0"/>
              <a:t>Profili su zaštićeni s </a:t>
            </a:r>
            <a:r>
              <a:rPr lang="hr-HR" dirty="0" err="1"/>
              <a:t>OAuth</a:t>
            </a:r>
            <a:r>
              <a:rPr lang="hr-HR" dirty="0"/>
              <a:t> 2.0 autentifikacijom</a:t>
            </a:r>
          </a:p>
          <a:p>
            <a:r>
              <a:rPr lang="hr-HR" dirty="0"/>
              <a:t>Privatne staze moraju biti osigurane od neovlaštenog pristupa</a:t>
            </a:r>
          </a:p>
          <a:p>
            <a:r>
              <a:rPr lang="hr-HR" dirty="0"/>
              <a:t>Sustav mora biti dizajniran za jednostavno ažuriranje i dodavanje novih funkcionalnosti</a:t>
            </a:r>
          </a:p>
          <a:p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CC28A4-2C67-DD29-0D8A-9728AD0EB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6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699435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B194B-73FA-DAD6-728F-E14212BE2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noProof="0" dirty="0"/>
              <a:t>UML dijagram obrazaca uporabe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0CEC8-0F4C-E99E-FC93-F08F526E7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7</a:t>
            </a:fld>
            <a:endParaRPr lang="hr-HR" dirty="0"/>
          </a:p>
        </p:txBody>
      </p:sp>
      <p:pic>
        <p:nvPicPr>
          <p:cNvPr id="1028" name="Picture 4" descr="alt text">
            <a:extLst>
              <a:ext uri="{FF2B5EF4-FFF2-40B4-BE49-F238E27FC236}">
                <a16:creationId xmlns:a16="http://schemas.microsoft.com/office/drawing/2014/main" id="{BFC98AEB-8B8E-E136-8752-3EA4A383A6A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8" y="1279531"/>
            <a:ext cx="9001125" cy="4784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1244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F501E-FC56-8111-CC07-D5FF3D1C4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B2889-E3FF-3D3F-17D3-67EFDC902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noProof="0" dirty="0"/>
              <a:t>UML </a:t>
            </a:r>
            <a:r>
              <a:rPr lang="hr-HR" dirty="0"/>
              <a:t>sekvencijski dijagram</a:t>
            </a:r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4D70B-D559-D9D9-4494-B61A352A6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8</a:t>
            </a:fld>
            <a:endParaRPr lang="hr-HR" dirty="0"/>
          </a:p>
        </p:txBody>
      </p:sp>
      <p:pic>
        <p:nvPicPr>
          <p:cNvPr id="2052" name="Picture 4" descr="alt text">
            <a:extLst>
              <a:ext uri="{FF2B5EF4-FFF2-40B4-BE49-F238E27FC236}">
                <a16:creationId xmlns:a16="http://schemas.microsoft.com/office/drawing/2014/main" id="{C14D1627-49F4-689F-5D22-716706D055B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567" y="971550"/>
            <a:ext cx="6222867" cy="540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2789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Arhitektura sustava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Klijent-poslužitelj model</a:t>
            </a:r>
          </a:p>
          <a:p>
            <a:pPr lvl="1"/>
            <a:r>
              <a:rPr lang="hr-HR" dirty="0"/>
              <a:t>Frontend: </a:t>
            </a:r>
            <a:r>
              <a:rPr lang="hr-HR" dirty="0" err="1"/>
              <a:t>components</a:t>
            </a:r>
            <a:r>
              <a:rPr lang="hr-HR" dirty="0"/>
              <a:t>, </a:t>
            </a:r>
            <a:r>
              <a:rPr lang="hr-HR" dirty="0" err="1"/>
              <a:t>pages</a:t>
            </a:r>
            <a:r>
              <a:rPr lang="hr-HR" dirty="0"/>
              <a:t> (uobičajena React podjela)</a:t>
            </a:r>
          </a:p>
          <a:p>
            <a:pPr lvl="1"/>
            <a:r>
              <a:rPr lang="hr-HR" dirty="0"/>
              <a:t>Backend: </a:t>
            </a:r>
            <a:r>
              <a:rPr lang="hr-HR" dirty="0" err="1"/>
              <a:t>controller</a:t>
            </a:r>
            <a:r>
              <a:rPr lang="hr-HR" dirty="0"/>
              <a:t>, </a:t>
            </a:r>
            <a:r>
              <a:rPr lang="hr-HR" dirty="0" err="1"/>
              <a:t>service</a:t>
            </a:r>
            <a:r>
              <a:rPr lang="hr-HR" dirty="0"/>
              <a:t>, </a:t>
            </a:r>
            <a:r>
              <a:rPr lang="hr-HR" dirty="0" err="1"/>
              <a:t>repository</a:t>
            </a:r>
            <a:r>
              <a:rPr lang="hr-HR" dirty="0"/>
              <a:t>, model, DTO, </a:t>
            </a:r>
            <a:r>
              <a:rPr lang="hr-HR" dirty="0" err="1"/>
              <a:t>mapper</a:t>
            </a:r>
            <a:r>
              <a:rPr lang="hr-HR" dirty="0"/>
              <a:t>, </a:t>
            </a:r>
            <a:r>
              <a:rPr lang="hr-HR" dirty="0" err="1"/>
              <a:t>security</a:t>
            </a:r>
            <a:endParaRPr lang="hr-HR" dirty="0"/>
          </a:p>
          <a:p>
            <a:r>
              <a:rPr lang="hr-HR" dirty="0"/>
              <a:t>R</a:t>
            </a:r>
            <a:r>
              <a:rPr lang="hr-HR" noProof="0" dirty="0" err="1"/>
              <a:t>elacijska</a:t>
            </a:r>
            <a:r>
              <a:rPr lang="hr-HR" noProof="0" dirty="0"/>
              <a:t> baza podataka</a:t>
            </a:r>
          </a:p>
          <a:p>
            <a:r>
              <a:rPr lang="hr-HR" dirty="0"/>
              <a:t>Korisničko sučelje preko web aplikacije</a:t>
            </a:r>
          </a:p>
          <a:p>
            <a:r>
              <a:rPr lang="hr-HR" dirty="0"/>
              <a:t>Poslužitelj render.com, </a:t>
            </a:r>
            <a:r>
              <a:rPr lang="hr-HR" dirty="0" err="1"/>
              <a:t>docker</a:t>
            </a:r>
            <a:endParaRPr lang="hr-HR" dirty="0"/>
          </a:p>
          <a:p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9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657354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14DE2AE-F957-B433-24F6-2F519BEF8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UML dijagram razreda</a:t>
            </a:r>
          </a:p>
        </p:txBody>
      </p:sp>
      <p:pic>
        <p:nvPicPr>
          <p:cNvPr id="8" name="Rezervirano mjesto sadržaja 7" descr="Slika na kojoj se prikazuje tekst, snimka zaslona, dijagram, paralelno&#10;&#10;Sadržaj generiran uz AI možda nije točan.">
            <a:extLst>
              <a:ext uri="{FF2B5EF4-FFF2-40B4-BE49-F238E27FC236}">
                <a16:creationId xmlns:a16="http://schemas.microsoft.com/office/drawing/2014/main" id="{EB4A458C-69C4-1D32-6231-CCC6713FAE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2622" y="971550"/>
            <a:ext cx="5478757" cy="5400675"/>
          </a:xfrm>
          <a:prstGeom prst="rect">
            <a:avLst/>
          </a:prstGeom>
        </p:spPr>
      </p:pic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33F8DF62-2883-2FA7-3D3B-08BA1C5FF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10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70369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892D36C-4264-0493-F427-9CBA52229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UML dijagram razreda</a:t>
            </a:r>
          </a:p>
        </p:txBody>
      </p:sp>
      <p:pic>
        <p:nvPicPr>
          <p:cNvPr id="6" name="Rezervirano mjesto sadržaja 5" descr="Slika na kojoj se prikazuje snimka zaslona, tekst, Trokut, paralelno&#10;&#10;Sadržaj generiran uz AI možda nije točan.">
            <a:extLst>
              <a:ext uri="{FF2B5EF4-FFF2-40B4-BE49-F238E27FC236}">
                <a16:creationId xmlns:a16="http://schemas.microsoft.com/office/drawing/2014/main" id="{D3DA5534-DFEA-012F-EE08-3F55A420E4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4575" y="971550"/>
            <a:ext cx="5634850" cy="5400675"/>
          </a:xfrm>
          <a:prstGeom prst="rect">
            <a:avLst/>
          </a:prstGeom>
        </p:spPr>
      </p:pic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C5F8CC4F-7E8B-7BC2-1BDF-39FD593AF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11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169974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43278-3D25-FEF7-4D6D-B4CA3FBE5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Ispitivanje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03D6B-82AC-E000-ED08-E246EC190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hr-HR" dirty="0"/>
              <a:t>Organizacija ispitivanja</a:t>
            </a:r>
          </a:p>
          <a:p>
            <a:pPr lvl="1" fontAlgn="base"/>
            <a:r>
              <a:rPr lang="hr-HR" dirty="0"/>
              <a:t>Testovi strukturirani po slojevima aplikacije (</a:t>
            </a:r>
            <a:r>
              <a:rPr lang="hr-HR" dirty="0" err="1"/>
              <a:t>repository</a:t>
            </a:r>
            <a:r>
              <a:rPr lang="hr-HR" dirty="0"/>
              <a:t>, </a:t>
            </a:r>
            <a:r>
              <a:rPr lang="hr-HR" dirty="0" err="1"/>
              <a:t>service</a:t>
            </a:r>
            <a:r>
              <a:rPr lang="hr-HR" dirty="0"/>
              <a:t>, </a:t>
            </a:r>
            <a:r>
              <a:rPr lang="hr-HR" dirty="0" err="1"/>
              <a:t>util</a:t>
            </a:r>
            <a:r>
              <a:rPr lang="hr-HR" dirty="0"/>
              <a:t>, </a:t>
            </a:r>
            <a:r>
              <a:rPr lang="hr-HR" dirty="0" err="1"/>
              <a:t>controller</a:t>
            </a:r>
            <a:r>
              <a:rPr lang="hr-HR" dirty="0"/>
              <a:t>)</a:t>
            </a:r>
          </a:p>
          <a:p>
            <a:pPr lvl="1" fontAlgn="base"/>
            <a:r>
              <a:rPr lang="hr-HR" dirty="0"/>
              <a:t>jasna odgovornost i lakše održavanje</a:t>
            </a:r>
          </a:p>
          <a:p>
            <a:pPr fontAlgn="base"/>
            <a:r>
              <a:rPr lang="hr-HR" dirty="0"/>
              <a:t>Pokrivenost ispitivanja</a:t>
            </a:r>
          </a:p>
          <a:p>
            <a:pPr lvl="1" fontAlgn="base"/>
            <a:r>
              <a:rPr lang="hr-HR" dirty="0"/>
              <a:t>ključne funkcionalnosti sustava kroz pozitivne i negativne scenarije</a:t>
            </a:r>
          </a:p>
          <a:p>
            <a:pPr lvl="1" fontAlgn="base"/>
            <a:r>
              <a:rPr lang="hr-HR" dirty="0"/>
              <a:t>prava pristupa i sigurnost</a:t>
            </a:r>
          </a:p>
          <a:p>
            <a:pPr fontAlgn="base"/>
            <a:r>
              <a:rPr lang="hr-HR" dirty="0"/>
              <a:t>Fokus ispitivanja</a:t>
            </a:r>
          </a:p>
          <a:p>
            <a:pPr lvl="1" fontAlgn="base"/>
            <a:r>
              <a:rPr lang="hr-HR" dirty="0"/>
              <a:t>Ispravnost poslovne logike</a:t>
            </a:r>
          </a:p>
          <a:p>
            <a:pPr lvl="1" fontAlgn="base"/>
            <a:r>
              <a:rPr lang="hr-HR" dirty="0"/>
              <a:t>Funkcionalni rad sustava u realnom korisničkom scenariju</a:t>
            </a:r>
          </a:p>
          <a:p>
            <a:pPr fontAlgn="base"/>
            <a:endParaRPr lang="hr-H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2A5A4-7F29-94F6-4C85-99B20512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12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21737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Korišteni alati i tehnologije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Frontend: React (verzija 19), </a:t>
            </a:r>
            <a:r>
              <a:rPr lang="hr-HR" noProof="0" dirty="0" err="1"/>
              <a:t>TypeScripit</a:t>
            </a:r>
            <a:r>
              <a:rPr lang="hr-HR" noProof="0" dirty="0"/>
              <a:t> 5.9.3</a:t>
            </a:r>
          </a:p>
          <a:p>
            <a:r>
              <a:rPr lang="hr-HR" noProof="0" dirty="0"/>
              <a:t>Backend: </a:t>
            </a:r>
            <a:r>
              <a:rPr lang="hr-HR" noProof="0" dirty="0" err="1"/>
              <a:t>Spring</a:t>
            </a:r>
            <a:r>
              <a:rPr lang="hr-HR" noProof="0" dirty="0"/>
              <a:t> </a:t>
            </a:r>
            <a:r>
              <a:rPr lang="hr-HR" noProof="0" dirty="0" err="1"/>
              <a:t>Boot</a:t>
            </a:r>
            <a:r>
              <a:rPr lang="hr-HR" noProof="0" dirty="0"/>
              <a:t> (verzija 3.2.5), Java 21 </a:t>
            </a:r>
          </a:p>
          <a:p>
            <a:r>
              <a:rPr lang="hr-HR" noProof="0" dirty="0"/>
              <a:t>Baza podataka: </a:t>
            </a:r>
            <a:r>
              <a:rPr lang="hr-HR" noProof="0" dirty="0" err="1"/>
              <a:t>PostgreSQL</a:t>
            </a:r>
            <a:r>
              <a:rPr lang="hr-HR" noProof="0" dirty="0"/>
              <a:t> 18, </a:t>
            </a:r>
            <a:r>
              <a:rPr lang="hr-HR" dirty="0" err="1"/>
              <a:t>Spring</a:t>
            </a:r>
            <a:r>
              <a:rPr lang="hr-HR" dirty="0"/>
              <a:t> Data JPA</a:t>
            </a:r>
            <a:endParaRPr lang="hr-HR" noProof="0" dirty="0"/>
          </a:p>
          <a:p>
            <a:r>
              <a:rPr lang="hr-HR" dirty="0" err="1"/>
              <a:t>Visual</a:t>
            </a:r>
            <a:r>
              <a:rPr lang="hr-HR" dirty="0"/>
              <a:t> Studio Code, </a:t>
            </a:r>
            <a:r>
              <a:rPr lang="hr-HR" dirty="0" err="1"/>
              <a:t>IntelliJ</a:t>
            </a:r>
            <a:r>
              <a:rPr lang="hr-HR" dirty="0"/>
              <a:t> IDEA</a:t>
            </a:r>
          </a:p>
          <a:p>
            <a:r>
              <a:rPr lang="hr-HR" dirty="0"/>
              <a:t>Git i </a:t>
            </a:r>
            <a:r>
              <a:rPr lang="hr-HR" dirty="0" err="1"/>
              <a:t>GitHub</a:t>
            </a:r>
            <a:endParaRPr lang="hr-HR" dirty="0"/>
          </a:p>
          <a:p>
            <a:r>
              <a:rPr lang="hr-HR" dirty="0" err="1"/>
              <a:t>Selenium</a:t>
            </a:r>
            <a:r>
              <a:rPr lang="hr-HR" dirty="0"/>
              <a:t> API, </a:t>
            </a:r>
            <a:r>
              <a:rPr lang="hr-HR" dirty="0" err="1"/>
              <a:t>Junit</a:t>
            </a:r>
            <a:endParaRPr lang="hr-HR" dirty="0"/>
          </a:p>
          <a:p>
            <a:r>
              <a:rPr lang="hr-HR" dirty="0"/>
              <a:t>Render.com</a:t>
            </a:r>
          </a:p>
          <a:p>
            <a:r>
              <a:rPr lang="hr-HR" dirty="0" err="1"/>
              <a:t>Postman</a:t>
            </a: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89772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Organizacija rada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noProof="0" dirty="0"/>
              <a:t>Neprogramski (organizacijski) zadaci</a:t>
            </a:r>
          </a:p>
          <a:p>
            <a:pPr lvl="1"/>
            <a:r>
              <a:rPr lang="hr-HR" noProof="0" dirty="0"/>
              <a:t>Komunikacija preko platforme Discord</a:t>
            </a:r>
          </a:p>
          <a:p>
            <a:pPr lvl="1"/>
            <a:r>
              <a:rPr lang="hr-HR" noProof="0" dirty="0"/>
              <a:t>Redoviti sastanci</a:t>
            </a:r>
          </a:p>
          <a:p>
            <a:pPr lvl="1"/>
            <a:r>
              <a:rPr lang="hr-HR" noProof="0" dirty="0" err="1"/>
              <a:t>GitHub</a:t>
            </a:r>
            <a:r>
              <a:rPr lang="hr-HR" noProof="0" dirty="0"/>
              <a:t> organizacija grana: main, dev, </a:t>
            </a:r>
            <a:r>
              <a:rPr lang="hr-HR" noProof="0" dirty="0" err="1"/>
              <a:t>devdoc</a:t>
            </a:r>
            <a:endParaRPr lang="hr-HR" dirty="0"/>
          </a:p>
          <a:p>
            <a:pPr lvl="1"/>
            <a:r>
              <a:rPr lang="hr-HR" noProof="0" dirty="0" err="1"/>
              <a:t>GitHub</a:t>
            </a:r>
            <a:r>
              <a:rPr lang="hr-HR" noProof="0" dirty="0"/>
              <a:t> Issues</a:t>
            </a:r>
          </a:p>
          <a:p>
            <a:pPr lvl="1"/>
            <a:r>
              <a:rPr lang="hr-HR" dirty="0" err="1"/>
              <a:t>GitHub</a:t>
            </a:r>
            <a:r>
              <a:rPr lang="hr-HR" dirty="0"/>
              <a:t> Wiki</a:t>
            </a:r>
            <a:endParaRPr lang="hr-HR" noProof="0" dirty="0"/>
          </a:p>
          <a:p>
            <a:pPr lvl="1"/>
            <a:endParaRPr lang="hr-HR" noProof="0" dirty="0"/>
          </a:p>
          <a:p>
            <a:pPr lvl="1"/>
            <a:r>
              <a:rPr lang="hr-HR" noProof="0" dirty="0" err="1"/>
              <a:t>Vodopadni</a:t>
            </a:r>
            <a:r>
              <a:rPr lang="hr-HR" noProof="0" dirty="0"/>
              <a:t> model životnog ciklusa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2852239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D6BA70C-A76D-F9CB-E3AA-DB2F47FE9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Raščlamba zadataka</a:t>
            </a:r>
          </a:p>
        </p:txBody>
      </p:sp>
      <p:pic>
        <p:nvPicPr>
          <p:cNvPr id="8" name="Rezervirano mjesto sadržaja 7" descr="Slika na kojoj se prikazuje tekst, dijagram, crta, paralelno&#10;&#10;Sadržaj generiran uz AI možda nije točan.">
            <a:extLst>
              <a:ext uri="{FF2B5EF4-FFF2-40B4-BE49-F238E27FC236}">
                <a16:creationId xmlns:a16="http://schemas.microsoft.com/office/drawing/2014/main" id="{7CE01457-17F1-6AB2-4513-CD16DE0C44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6935" y="971550"/>
            <a:ext cx="5750130" cy="5400675"/>
          </a:xfrm>
          <a:prstGeom prst="rect">
            <a:avLst/>
          </a:prstGeom>
        </p:spPr>
      </p:pic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CB6C73F7-BB47-48B5-95FB-336F2B8C6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15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9477254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677640B-4D7A-6D46-85C4-DB9A4572B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Raščlamba zadataka</a:t>
            </a:r>
          </a:p>
        </p:txBody>
      </p:sp>
      <p:pic>
        <p:nvPicPr>
          <p:cNvPr id="6" name="Rezervirano mjesto sadržaja 5" descr="Slika na kojoj se prikazuje tekst, dijagram, crta, paralelno&#10;&#10;Sadržaj generiran uz AI možda nije točan.">
            <a:extLst>
              <a:ext uri="{FF2B5EF4-FFF2-40B4-BE49-F238E27FC236}">
                <a16:creationId xmlns:a16="http://schemas.microsoft.com/office/drawing/2014/main" id="{7565786C-775E-C9CC-E573-1472096AF8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2230" y="971550"/>
            <a:ext cx="6679540" cy="5400675"/>
          </a:xfrm>
          <a:prstGeom prst="rect">
            <a:avLst/>
          </a:prstGeom>
        </p:spPr>
      </p:pic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29D86BFA-5FF5-34EB-121A-943DE880F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16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7662670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A708BAB3-C5D3-FAC3-AA74-A2B192618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Raščlamba zadataka</a:t>
            </a:r>
          </a:p>
        </p:txBody>
      </p:sp>
      <p:pic>
        <p:nvPicPr>
          <p:cNvPr id="6" name="Rezervirano mjesto sadržaja 5" descr="Slika na kojoj se prikazuje tekst, pismo, Font, dokument&#10;&#10;Sadržaj generiran uz AI možda nije točan.">
            <a:extLst>
              <a:ext uri="{FF2B5EF4-FFF2-40B4-BE49-F238E27FC236}">
                <a16:creationId xmlns:a16="http://schemas.microsoft.com/office/drawing/2014/main" id="{CE331CF7-F69C-5F78-E0C6-AE5779B8D7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8015" y="982312"/>
            <a:ext cx="2511942" cy="5400675"/>
          </a:xfrm>
          <a:prstGeom prst="rect">
            <a:avLst/>
          </a:prstGeom>
        </p:spPr>
      </p:pic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A8399CF2-066C-2150-1A50-88AAFCA8D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17</a:t>
            </a:fld>
            <a:endParaRPr lang="hr-HR"/>
          </a:p>
        </p:txBody>
      </p:sp>
      <p:pic>
        <p:nvPicPr>
          <p:cNvPr id="8" name="Slika 7" descr="Slika na kojoj se prikazuje tekst, Font, pismo, dokument&#10;&#10;Sadržaj generiran uz AI možda nije točan.">
            <a:extLst>
              <a:ext uri="{FF2B5EF4-FFF2-40B4-BE49-F238E27FC236}">
                <a16:creationId xmlns:a16="http://schemas.microsoft.com/office/drawing/2014/main" id="{B591FC40-B816-0362-1DE6-4EE7FE4CD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5861" y="982312"/>
            <a:ext cx="2743583" cy="5420481"/>
          </a:xfrm>
          <a:prstGeom prst="rect">
            <a:avLst/>
          </a:prstGeom>
        </p:spPr>
      </p:pic>
      <p:pic>
        <p:nvPicPr>
          <p:cNvPr id="10" name="Slika 9" descr="Slika na kojoj se prikazuje tekst, snimka zaslona, Font, izbornik&#10;&#10;Sadržaj generiran uz AI možda nije točan.">
            <a:extLst>
              <a:ext uri="{FF2B5EF4-FFF2-40B4-BE49-F238E27FC236}">
                <a16:creationId xmlns:a16="http://schemas.microsoft.com/office/drawing/2014/main" id="{677B9B54-FF0C-2CCF-A318-311B1D8D95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9444" y="1624962"/>
            <a:ext cx="2657846" cy="411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5831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Zaključak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Pozitivna iskustva</a:t>
            </a:r>
          </a:p>
          <a:p>
            <a:pPr lvl="1"/>
            <a:r>
              <a:rPr lang="hr-HR" noProof="0" dirty="0"/>
              <a:t>Komunikacija preko platforme Discord</a:t>
            </a:r>
          </a:p>
          <a:p>
            <a:pPr lvl="1"/>
            <a:r>
              <a:rPr lang="hr-HR" dirty="0"/>
              <a:t>Odabir okruženja </a:t>
            </a:r>
            <a:r>
              <a:rPr lang="hr-HR" dirty="0" err="1"/>
              <a:t>React+Spring</a:t>
            </a:r>
            <a:r>
              <a:rPr lang="hr-HR" dirty="0"/>
              <a:t> </a:t>
            </a:r>
            <a:r>
              <a:rPr lang="hr-HR" dirty="0" err="1"/>
              <a:t>Boot</a:t>
            </a:r>
            <a:endParaRPr lang="hr-HR" noProof="0" dirty="0"/>
          </a:p>
          <a:p>
            <a:pPr lvl="1"/>
            <a:r>
              <a:rPr lang="hr-HR" dirty="0"/>
              <a:t>Automatizirano testiranje alatom </a:t>
            </a:r>
            <a:r>
              <a:rPr lang="hr-HR" dirty="0" err="1"/>
              <a:t>Selenium</a:t>
            </a:r>
            <a:endParaRPr lang="hr-HR" noProof="0" dirty="0"/>
          </a:p>
          <a:p>
            <a:r>
              <a:rPr lang="hr-HR" noProof="0" dirty="0"/>
              <a:t>Naučene lekcije za buduće projekte</a:t>
            </a:r>
          </a:p>
          <a:p>
            <a:pPr lvl="1"/>
            <a:r>
              <a:rPr lang="hr-HR" dirty="0"/>
              <a:t>Važnost upravljanja timom i planiranja razvoja </a:t>
            </a:r>
            <a:r>
              <a:rPr lang="hr-HR" noProof="0" dirty="0"/>
              <a:t>(Project management)</a:t>
            </a:r>
          </a:p>
          <a:p>
            <a:pPr lvl="1"/>
            <a:r>
              <a:rPr lang="hr-HR" dirty="0"/>
              <a:t>Neprikladan odabir modela životnog ciklusa</a:t>
            </a:r>
            <a:endParaRPr lang="hr-HR" noProof="0" dirty="0"/>
          </a:p>
          <a:p>
            <a:pPr lvl="1"/>
            <a:r>
              <a:rPr lang="hr-HR" noProof="0" dirty="0">
                <a:sym typeface="Wingdings" panose="05000000000000000000" pitchFamily="2" charset="2"/>
              </a:rPr>
              <a:t>Detaljnija razrada komunikacije frontend-a i </a:t>
            </a:r>
            <a:r>
              <a:rPr lang="hr-HR" noProof="0" dirty="0" err="1">
                <a:sym typeface="Wingdings" panose="05000000000000000000" pitchFamily="2" charset="2"/>
              </a:rPr>
              <a:t>backen</a:t>
            </a:r>
            <a:r>
              <a:rPr lang="hr-HR" dirty="0">
                <a:sym typeface="Wingdings" panose="05000000000000000000" pitchFamily="2" charset="2"/>
              </a:rPr>
              <a:t>d-a</a:t>
            </a:r>
            <a:endParaRPr lang="hr-HR" noProof="0" dirty="0">
              <a:sym typeface="Wingdings" panose="05000000000000000000" pitchFamily="2" charset="2"/>
            </a:endParaRPr>
          </a:p>
          <a:p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18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8259320"/>
      </p:ext>
    </p:extLst>
  </p:cSld>
  <p:clrMapOvr>
    <a:masterClrMapping/>
  </p:clrMapOvr>
</p:sld>
</file>

<file path=ppt/theme/theme1.xml><?xml version="1.0" encoding="utf-8"?>
<a:theme xmlns:a="http://schemas.openxmlformats.org/drawingml/2006/main" name="PROGI-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entury Gothic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GI-template.potm" id="{58E78474-FDB4-4359-98C4-259EEF8E4D43}" vid="{A98D19B1-8675-4930-BF13-63F2BBFA5E37}"/>
    </a:ext>
  </a:extLst>
</a:theme>
</file>

<file path=ppt/theme/theme2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01_Uvod_19-1</Template>
  <TotalTime>1552</TotalTime>
  <Words>527</Words>
  <Application>Microsoft Office PowerPoint</Application>
  <PresentationFormat>Prikaz na zaslonu (4:3)</PresentationFormat>
  <Paragraphs>119</Paragraphs>
  <Slides>18</Slides>
  <Notes>3</Notes>
  <HiddenSlides>0</HiddenSlides>
  <MMClips>0</MMClips>
  <ScaleCrop>false</ScaleCrop>
  <HeadingPairs>
    <vt:vector size="6" baseType="variant">
      <vt:variant>
        <vt:lpstr>Korišteni fontovi</vt:lpstr>
      </vt:variant>
      <vt:variant>
        <vt:i4>12</vt:i4>
      </vt:variant>
      <vt:variant>
        <vt:lpstr>Tema</vt:lpstr>
      </vt:variant>
      <vt:variant>
        <vt:i4>2</vt:i4>
      </vt:variant>
      <vt:variant>
        <vt:lpstr>Naslovi slajdova</vt:lpstr>
      </vt:variant>
      <vt:variant>
        <vt:i4>18</vt:i4>
      </vt:variant>
    </vt:vector>
  </HeadingPairs>
  <TitlesOfParts>
    <vt:vector size="32" baseType="lpstr">
      <vt:lpstr>ＭＳ Ｐゴシック</vt:lpstr>
      <vt:lpstr>Arial</vt:lpstr>
      <vt:lpstr>Calibri</vt:lpstr>
      <vt:lpstr>Century Gothic</vt:lpstr>
      <vt:lpstr>Courier New</vt:lpstr>
      <vt:lpstr>Franklin Gothic Book</vt:lpstr>
      <vt:lpstr>Franklin Gothic Demi</vt:lpstr>
      <vt:lpstr>Franklin Gothic Medium</vt:lpstr>
      <vt:lpstr>Tahoma</vt:lpstr>
      <vt:lpstr>Times New Roman</vt:lpstr>
      <vt:lpstr>Wingdings</vt:lpstr>
      <vt:lpstr>Wingdings 2</vt:lpstr>
      <vt:lpstr>PROGI-template</vt:lpstr>
      <vt:lpstr>DividendVTI</vt:lpstr>
      <vt:lpstr>Planinarko</vt:lpstr>
      <vt:lpstr>Sadržaj</vt:lpstr>
      <vt:lpstr>Članovi grupe</vt:lpstr>
      <vt:lpstr>O projektu</vt:lpstr>
      <vt:lpstr>Pregled zahtjeva</vt:lpstr>
      <vt:lpstr>Pregled zahtjeva</vt:lpstr>
      <vt:lpstr>UML dijagram obrazaca uporabe</vt:lpstr>
      <vt:lpstr>UML sekvencijski dijagram</vt:lpstr>
      <vt:lpstr>Arhitektura sustava</vt:lpstr>
      <vt:lpstr>UML dijagram razreda</vt:lpstr>
      <vt:lpstr>UML dijagram razreda</vt:lpstr>
      <vt:lpstr>Ispitivanje</vt:lpstr>
      <vt:lpstr>Korišteni alati i tehnologije</vt:lpstr>
      <vt:lpstr>Organizacija rada</vt:lpstr>
      <vt:lpstr>Raščlamba zadataka</vt:lpstr>
      <vt:lpstr>Raščlamba zadataka</vt:lpstr>
      <vt:lpstr>Raščlamba zadataka</vt:lpstr>
      <vt:lpstr>Zaključak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&lt;Naziv projekta&gt;</dc:title>
  <dc:creator>nfrid</dc:creator>
  <cp:lastModifiedBy>Antonio Zulim</cp:lastModifiedBy>
  <cp:revision>35</cp:revision>
  <dcterms:created xsi:type="dcterms:W3CDTF">2016-01-18T13:10:52Z</dcterms:created>
  <dcterms:modified xsi:type="dcterms:W3CDTF">2026-01-23T22:55:41Z</dcterms:modified>
</cp:coreProperties>
</file>